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9" r:id="rId5"/>
  </p:sldMasterIdLst>
  <p:notesMasterIdLst>
    <p:notesMasterId r:id="rId6"/>
  </p:notesMasterIdLst>
  <p:sldIdLst>
    <p:sldId id="256" r:id="rId7"/>
    <p:sldId id="261" r:id="rId12"/>
    <p:sldId id="277" r:id="rId36"/>
    <p:sldId id="278" r:id="rId37"/>
    <p:sldId id="279" r:id="rId38"/>
    <p:sldId id="280" r:id="rId39"/>
    <p:sldId id="281" r:id="rId40"/>
    <p:sldId id="282" r:id="rId41"/>
    <p:sldId id="283" r:id="rId42"/>
  </p:sldIdLst>
  <p:sldSz cy="11309350" cx="20104100"/>
  <p:notesSz cx="20104100" cy="11309350"/>
  <p:embeddedFontLst>
    <p:embeddedFont>
      <p:font typeface="Roboto"/>
      <p:regular r:id="rId24"/>
      <p:bold r:id="rId25"/>
      <p:italic r:id="rId26"/>
      <p:boldItalic r:id="rId27"/>
    </p:embeddedFont>
    <p:embeddedFont>
      <p:font typeface="Playfair Display"/>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02A538-FC3A-4053-A69F-4FBFB227CF33}">
  <a:tblStyle styleId="{5F02A538-FC3A-4053-A69F-4FBFB227CF3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2.xml"/><Relationship Id="rId24" Type="http://schemas.openxmlformats.org/officeDocument/2006/relationships/font" Target="fonts/Roboto-regular.fntdata"/><Relationship Id="rId25" Type="http://schemas.openxmlformats.org/officeDocument/2006/relationships/font" Target="fonts/Roboto-bold.fntdata"/><Relationship Id="rId26" Type="http://schemas.openxmlformats.org/officeDocument/2006/relationships/font" Target="fonts/Roboto-italic.fntdata"/><Relationship Id="rId27" Type="http://schemas.openxmlformats.org/officeDocument/2006/relationships/font" Target="fonts/Roboto-boldItalic.fntdata"/><Relationship Id="rId28" Type="http://schemas.openxmlformats.org/officeDocument/2006/relationships/font" Target="fonts/PlayfairDisplay-regular.fntdata"/><Relationship Id="rId29" Type="http://schemas.openxmlformats.org/officeDocument/2006/relationships/font" Target="fonts/PlayfairDisplay-bold.fntdata"/><Relationship Id="rId30" Type="http://schemas.openxmlformats.org/officeDocument/2006/relationships/font" Target="fonts/PlayfairDisplay-italic.fntdata"/><Relationship Id="rId31" Type="http://schemas.openxmlformats.org/officeDocument/2006/relationships/font" Target="fonts/PlayfairDisplay-boldItalic.fntdata"/><Relationship Id="rId36" Type="http://schemas.openxmlformats.org/officeDocument/2006/relationships/slide" Target="slides/slide3.xml"/><Relationship Id="rId37" Type="http://schemas.openxmlformats.org/officeDocument/2006/relationships/slide" Target="slides/slide4.xml"/><Relationship Id="rId38" Type="http://schemas.openxmlformats.org/officeDocument/2006/relationships/slide" Target="slides/slide5.xml"/><Relationship Id="rId39" Type="http://schemas.openxmlformats.org/officeDocument/2006/relationships/slide" Target="slides/slide6.xml"/><Relationship Id="rId40" Type="http://schemas.openxmlformats.org/officeDocument/2006/relationships/slide" Target="slides/slide7.xml"/><Relationship Id="rId41" Type="http://schemas.openxmlformats.org/officeDocument/2006/relationships/slide" Target="slides/slide8.xml"/><Relationship Id="rId42"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8712200" cy="5667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4" name="Google Shape;4;n"/>
          <p:cNvSpPr txBox="1"/>
          <p:nvPr>
            <p:ph idx="10" type="dt"/>
          </p:nvPr>
        </p:nvSpPr>
        <p:spPr>
          <a:xfrm>
            <a:off x="11387137" y="0"/>
            <a:ext cx="8712200" cy="56673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5" name="Google Shape;5;n"/>
          <p:cNvSpPr/>
          <p:nvPr>
            <p:ph idx="3" type="sldImg"/>
          </p:nvPr>
        </p:nvSpPr>
        <p:spPr>
          <a:xfrm>
            <a:off x="6659562" y="1414462"/>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2009775" y="5441950"/>
            <a:ext cx="16084549" cy="44545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742612"/>
            <a:ext cx="8712200" cy="566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n"/>
          <p:cNvSpPr txBox="1"/>
          <p:nvPr>
            <p:ph idx="12" type="sldNum"/>
          </p:nvPr>
        </p:nvSpPr>
        <p:spPr>
          <a:xfrm>
            <a:off x="11387137" y="10742612"/>
            <a:ext cx="8712200" cy="5667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p:txBody>
      </p:sp>
      <p:sp>
        <p:nvSpPr>
          <p:cNvPr id="23" name="Google Shape;23;p1: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6: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p:txBody>
      </p:sp>
      <p:sp>
        <p:nvSpPr>
          <p:cNvPr id="89" name="Google Shape;89;p6: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581025" y="407987"/>
            <a:ext cx="18942050" cy="484187"/>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b="0" i="1" sz="3000">
                <a:solidFill>
                  <a:srgbClr val="422C75"/>
                </a:solidFill>
                <a:latin typeface="Playfair Display"/>
                <a:ea typeface="Playfair Display"/>
                <a:cs typeface="Playfair Display"/>
                <a:sym typeface="Playfair Display"/>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7" name="Google Shape;17;p2"/>
          <p:cNvSpPr txBox="1"/>
          <p:nvPr>
            <p:ph idx="1" type="body"/>
          </p:nvPr>
        </p:nvSpPr>
        <p:spPr>
          <a:xfrm>
            <a:off x="2746375" y="2613025"/>
            <a:ext cx="14611350" cy="2271712"/>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360"/>
              </a:spcBef>
              <a:spcAft>
                <a:spcPts val="0"/>
              </a:spcAft>
              <a:buSzPts val="1400"/>
              <a:buNone/>
              <a:defRPr b="0" i="0">
                <a:solidFill>
                  <a:schemeClr val="dk1"/>
                </a:solidFill>
              </a:defRPr>
            </a:lvl1pPr>
            <a:lvl2pPr indent="-228600" lvl="1" marL="914400" algn="l">
              <a:lnSpc>
                <a:spcPct val="100000"/>
              </a:lnSpc>
              <a:spcBef>
                <a:spcPts val="360"/>
              </a:spcBef>
              <a:spcAft>
                <a:spcPts val="0"/>
              </a:spcAft>
              <a:buSzPts val="1400"/>
              <a:buNone/>
              <a:defRPr/>
            </a:lvl2pPr>
            <a:lvl3pPr indent="-228600" lvl="2" marL="1371600" algn="l">
              <a:lnSpc>
                <a:spcPct val="100000"/>
              </a:lnSpc>
              <a:spcBef>
                <a:spcPts val="360"/>
              </a:spcBef>
              <a:spcAft>
                <a:spcPts val="0"/>
              </a:spcAft>
              <a:buSzPts val="1400"/>
              <a:buNone/>
              <a:defRPr/>
            </a:lvl3pPr>
            <a:lvl4pPr indent="-228600" lvl="3" marL="1828800" algn="l">
              <a:lnSpc>
                <a:spcPct val="100000"/>
              </a:lnSpc>
              <a:spcBef>
                <a:spcPts val="360"/>
              </a:spcBef>
              <a:spcAft>
                <a:spcPts val="0"/>
              </a:spcAft>
              <a:buSzPts val="1400"/>
              <a:buNone/>
              <a:defRPr/>
            </a:lvl4pPr>
            <a:lvl5pPr indent="-228600" lvl="4" marL="2286000" algn="l">
              <a:lnSpc>
                <a:spcPct val="100000"/>
              </a:lnSpc>
              <a:spcBef>
                <a:spcPts val="36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8" name="Google Shape;18;p2"/>
          <p:cNvSpPr txBox="1"/>
          <p:nvPr>
            <p:ph idx="11" type="ftr"/>
          </p:nvPr>
        </p:nvSpPr>
        <p:spPr>
          <a:xfrm>
            <a:off x="6835775" y="10517187"/>
            <a:ext cx="6432550" cy="566737"/>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0" type="dt"/>
          </p:nvPr>
        </p:nvSpPr>
        <p:spPr>
          <a:xfrm>
            <a:off x="1004887" y="10517187"/>
            <a:ext cx="4624387" cy="566737"/>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14474825" y="10517187"/>
            <a:ext cx="4624387" cy="566737"/>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81025" y="407987"/>
            <a:ext cx="18942050" cy="48418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1800" u="none" cap="none" strike="noStrike">
                <a:solidFill>
                  <a:schemeClr val="dk2"/>
                </a:solidFill>
                <a:latin typeface="Calibri"/>
                <a:ea typeface="Calibri"/>
                <a:cs typeface="Calibri"/>
                <a:sym typeface="Calibri"/>
              </a:defRPr>
            </a:lvl9pPr>
          </a:lstStyle>
          <a:p/>
        </p:txBody>
      </p:sp>
      <p:sp>
        <p:nvSpPr>
          <p:cNvPr id="11" name="Google Shape;11;p1"/>
          <p:cNvSpPr txBox="1"/>
          <p:nvPr>
            <p:ph idx="1" type="body"/>
          </p:nvPr>
        </p:nvSpPr>
        <p:spPr>
          <a:xfrm>
            <a:off x="2746375" y="2613025"/>
            <a:ext cx="14611350" cy="2271712"/>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1"/>
          <p:cNvSpPr txBox="1"/>
          <p:nvPr>
            <p:ph idx="11" type="ftr"/>
          </p:nvPr>
        </p:nvSpPr>
        <p:spPr>
          <a:xfrm>
            <a:off x="6835775" y="10517187"/>
            <a:ext cx="6432550" cy="56673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0" type="dt"/>
          </p:nvPr>
        </p:nvSpPr>
        <p:spPr>
          <a:xfrm>
            <a:off x="1004887" y="10517187"/>
            <a:ext cx="4624387" cy="56673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14474825" y="10517187"/>
            <a:ext cx="4624387" cy="56673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800"/>
              <a:buFont typeface="Calibri"/>
              <a:buNone/>
              <a:defRPr b="0" i="0" sz="18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 name="Shape 24"/>
        <p:cNvGrpSpPr/>
        <p:nvPr/>
      </p:nvGrpSpPr>
      <p:grpSpPr>
        <a:xfrm>
          <a:off x="0" y="0"/>
          <a:ext cx="0" cy="0"/>
          <a:chOff x="0" y="0"/>
          <a:chExt cx="0" cy="0"/>
        </a:xfrm>
      </p:grpSpPr>
      <p:sp>
        <p:nvSpPr>
          <p:cNvPr id="25" name="Google Shape;25;p3"/>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6" name="Google Shape;26;p3"/>
          <p:cNvPicPr preferRelativeResize="0"/>
          <p:nvPr/>
        </p:nvPicPr>
        <p:blipFill rotWithShape="1">
          <a:blip r:embed="rId3">
            <a:alphaModFix/>
          </a:blip>
          <a:srcRect b="0" l="0" r="0" t="0"/>
          <a:stretch/>
        </p:blipFill>
        <p:spPr>
          <a:xfrm>
            <a:off x="25" y="0"/>
            <a:ext cx="20104100" cy="11309350"/>
          </a:xfrm>
          <a:prstGeom prst="rect">
            <a:avLst/>
          </a:prstGeom>
          <a:noFill/>
          <a:ln>
            <a:noFill/>
          </a:ln>
        </p:spPr>
      </p:pic>
      <p:sp>
        <p:nvSpPr>
          <p:cNvPr id="27" name="Google Shape;27;p3"/>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 name="Google Shape;28;p3"/>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 name="Google Shape;29;p3"/>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30" name="Google Shape;30;p3"/>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31" name="Google Shape;31;p3"/>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32" name="Google Shape;32;p3"/>
          <p:cNvSpPr txBox="1"/>
          <p:nvPr/>
        </p:nvSpPr>
        <p:spPr>
          <a:xfrm>
            <a:off x="791601" y="3600000"/>
            <a:ext cx="18520800" cy="630900"/>
          </a:xfrm>
          <a:prstGeom prst="rect">
            <a:avLst/>
          </a:prstGeom>
          <a:noFill/>
          <a:ln>
            <a:noFill/>
          </a:ln>
        </p:spPr>
        <p:txBody>
          <a:bodyPr anchorCtr="0" anchor="t" bIns="45700" lIns="91425" spcFirstLastPara="1" rIns="91425" wrap="square" tIns="45700">
            <a:spAutoFit/>
          </a:bodyPr>
          <a:lstStyle/>
          <a:p>
            <a:pPr indent="0" lvl="0" marL="12700" marR="0" rtl="0" algn="ctr">
              <a:lnSpc>
                <a:spcPct val="100000"/>
              </a:lnSpc>
              <a:spcBef>
                <a:spcPts val="0"/>
              </a:spcBef>
              <a:spcAft>
                <a:spcPts val="0"/>
              </a:spcAft>
              <a:buClr>
                <a:schemeClr val="dk1"/>
              </a:buClr>
              <a:buSzPts val="8000"/>
              <a:buFont typeface="Calibri"/>
              <a:buNone/>
            </a:pPr>
            <a:r>
              <a:rPr lang="en-US" sz="5400" b="1">
                <a:solidFill>
                  <a:schemeClr val="dk1"/>
                </a:solidFill>
                <a:latin typeface="Calibri"/>
                <a:ea typeface="Roboto"/>
                <a:cs typeface="Roboto"/>
                <a:sym typeface="Roboto"/>
              </a:rPr>
              <a:t>Mini Hackathon: Problem Statements</a:t>
            </a:r>
            <a:endParaRPr b="0" i="0" sz="3500" u="none" cap="none" strike="noStrike">
              <a:solidFill>
                <a:srgbClr val="000000"/>
              </a:solidFill>
              <a:latin typeface="Arial"/>
              <a:ea typeface="Arial"/>
              <a:cs typeface="Arial"/>
              <a:sym typeface="Arial"/>
            </a:endParaRPr>
          </a:p>
        </p:txBody>
      </p:sp>
      <p:sp>
        <p:nvSpPr>
          <p:cNvPr id="35" name="Google Shape;35;p3"/>
          <p:cNvSpPr txBox="1"/>
          <p:nvPr/>
        </p:nvSpPr>
        <p:spPr>
          <a:xfrm>
            <a:off x="791601" y="5600000"/>
            <a:ext cx="18520800" cy="1569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Calibri"/>
              <a:buNone/>
            </a:pPr>
            <a:r>
              <a:rPr b="1" i="0" lang="en-US" sz="3600" u="none" cap="none" strike="noStrike">
                <a:solidFill>
                  <a:schemeClr val="dk1"/>
                </a:solidFill>
                <a:latin typeface="Calibri"/>
                <a:ea typeface="Calibri"/>
                <a:cs typeface="Calibri"/>
                <a:sym typeface="Calibri"/>
              </a:rPr>
              <a:t>Build time: 9:30 AM to 2:30 PM</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Calibri"/>
              <a:buNone/>
            </a:pPr>
            <a:r>
              <a:rPr b="1" i="0" lang="en-US" sz="3600" u="none" cap="none" strike="noStrike">
                <a:solidFill>
                  <a:schemeClr val="dk1"/>
                </a:solidFill>
                <a:latin typeface="Calibri"/>
                <a:ea typeface="Calibri"/>
                <a:cs typeface="Calibri"/>
                <a:sym typeface="Calibri"/>
              </a:rPr>
              <a:t>Teams of 3–4 · Four problem statements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3200"/>
              <a:buFont typeface="Calibri"/>
              <a:buNone/>
            </a:pPr>
            <a:r>
              <a:rPr b="1" i="0" lang="en-US" sz="3600" u="none" cap="none" strike="noStrike">
                <a:solidFill>
                  <a:schemeClr val="dk1"/>
                </a:solidFill>
                <a:latin typeface="Calibri"/>
                <a:ea typeface="Calibri"/>
                <a:cs typeface="Calibri"/>
                <a:sym typeface="Calibri"/>
              </a:rPr>
              <a:t>Department of Computer Science and Engineering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0" y="-16450"/>
            <a:ext cx="20104100" cy="11309350"/>
          </a:xfrm>
          <a:prstGeom prst="rect">
            <a:avLst/>
          </a:prstGeom>
          <a:noFill/>
          <a:ln>
            <a:noFill/>
          </a:ln>
        </p:spPr>
      </p:pic>
      <p:sp>
        <p:nvSpPr>
          <p:cNvPr id="93" name="Google Shape;93;p8"/>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8"/>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8"/>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8"/>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2762250" y="1962150"/>
            <a:ext cx="16500000" cy="8445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PS1: Ticket Booking System</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1308200" y="3270663"/>
            <a:ext cx="17487600" cy="5030100"/>
          </a:xfrm>
          <a:prstGeom prst="rect">
            <a:avLst/>
          </a:prstGeom>
          <a:noFill/>
          <a:ln>
            <a:noFill/>
          </a:ln>
        </p:spPr>
        <p:txBody>
          <a:bodyPr anchorCtr="0" anchor="t" bIns="0" lIns="0" spcFirstLastPara="1" rIns="0" wrap="square" tIns="12050">
            <a:spAutoFit/>
          </a:bodyPr>
          <a:lstStyle/>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Problem: </a:t>
            </a:r>
            <a:r>
              <a:rPr lang="en-US" sz="3000">
                <a:solidFill>
                  <a:schemeClr val="dk1"/>
                </a:solidFill>
                <a:latin typeface="Calibri"/>
                <a:ea typeface="Calibri"/>
                <a:cs typeface="Calibri"/>
                <a:sym typeface="Calibri"/>
              </a:rPr>
              <a:t>Organisers list something with limited capacity and users book it. The same seat or ticket must never be sold twice, even when many users try at the same moment.</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Roles: </a:t>
            </a:r>
            <a:r>
              <a:rPr lang="en-US" sz="3000">
                <a:solidFill>
                  <a:schemeClr val="dk1"/>
                </a:solidFill>
                <a:latin typeface="Calibri"/>
                <a:ea typeface="Calibri"/>
                <a:cs typeface="Calibri"/>
                <a:sym typeface="Calibri"/>
              </a:rPr>
              <a:t>User, organiser</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Variants (pick one): </a:t>
            </a:r>
            <a:r>
              <a:rPr lang="en-US" sz="3000">
                <a:solidFill>
                  <a:schemeClr val="dk1"/>
                </a:solidFill>
                <a:latin typeface="Calibri"/>
                <a:ea typeface="Calibri"/>
                <a:cs typeface="Calibri"/>
                <a:sym typeface="Calibri"/>
              </a:rPr>
              <a:t>movie theatre, concert or event, bus, train (harder, bonus marks)</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Must have: </a:t>
            </a:r>
            <a:r>
              <a:rPr lang="en-US" sz="3000">
                <a:solidFill>
                  <a:schemeClr val="dk1"/>
                </a:solidFill>
                <a:latin typeface="Calibri"/>
                <a:ea typeface="Calibri"/>
                <a:cs typeface="Calibri"/>
                <a:sym typeface="Calibri"/>
              </a:rPr>
              <a:t>seat availability, seat hold during payment, mock payment that can succeed or fail, booking confirmation, “My bookings” with cancel, organiser dashboard</a:t>
            </a:r>
            <a:endParaRPr sz="3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0" y="-16450"/>
            <a:ext cx="20104100" cy="11309350"/>
          </a:xfrm>
          <a:prstGeom prst="rect">
            <a:avLst/>
          </a:prstGeom>
          <a:noFill/>
          <a:ln>
            <a:noFill/>
          </a:ln>
        </p:spPr>
      </p:pic>
      <p:sp>
        <p:nvSpPr>
          <p:cNvPr id="93" name="Google Shape;93;p8"/>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8"/>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8"/>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8"/>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2762250" y="1962150"/>
            <a:ext cx="16500000" cy="8445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PS1: Evaluation Criteria (10 × 5 marks)</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1308200" y="3050000"/>
            <a:ext cx="17487600" cy="5030100"/>
          </a:xfrm>
          <a:prstGeom prst="rect">
            <a:avLst/>
          </a:prstGeom>
          <a:noFill/>
          <a:ln>
            <a:noFill/>
          </a:ln>
        </p:spPr>
        <p:txBody>
          <a:bodyPr anchorCtr="0" anchor="t" bIns="0" lIns="0" spcFirstLastPara="1" rIns="0" wrap="square" tIns="12050">
            <a:spAutoFit/>
          </a:bodyPr>
          <a:lstStyle/>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Who are your users, what can they do, and what is out of scope?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are your booking rules, including the edge cases?</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does your architecture look like, and why each part?</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your data model fit your variant? Why SQL or MongoDB?</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How do you guarantee two users never get the same seat?</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the full booking flow work end to end?</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 holds, retries and failed payments behave correctly?</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Can a user cheat, or reach data that isn't theirs?</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the organiser dashboard show correct numbers?</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Is it deployed, and can someone else run, test and understand it?</a:t>
            </a:r>
            <a:endParaRPr sz="2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0" y="-16450"/>
            <a:ext cx="20104100" cy="11309350"/>
          </a:xfrm>
          <a:prstGeom prst="rect">
            <a:avLst/>
          </a:prstGeom>
          <a:noFill/>
          <a:ln>
            <a:noFill/>
          </a:ln>
        </p:spPr>
      </p:pic>
      <p:sp>
        <p:nvSpPr>
          <p:cNvPr id="93" name="Google Shape;93;p8"/>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8"/>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8"/>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8"/>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2762250" y="1962150"/>
            <a:ext cx="16500000" cy="8445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PS2: File-Sharing Service</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1308200" y="3270663"/>
            <a:ext cx="17487600" cy="5030100"/>
          </a:xfrm>
          <a:prstGeom prst="rect">
            <a:avLst/>
          </a:prstGeom>
          <a:noFill/>
          <a:ln>
            <a:noFill/>
          </a:ln>
        </p:spPr>
        <p:txBody>
          <a:bodyPr anchorCtr="0" anchor="t" bIns="0" lIns="0" spcFirstLastPara="1" rIns="0" wrap="square" tIns="12050">
            <a:spAutoFit/>
          </a:bodyPr>
          <a:lstStyle/>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Problem: </a:t>
            </a:r>
            <a:r>
              <a:rPr lang="en-US" sz="3000">
                <a:solidFill>
                  <a:schemeClr val="dk1"/>
                </a:solidFill>
                <a:latin typeface="Calibri"/>
                <a:ea typeface="Calibri"/>
                <a:cs typeface="Calibri"/>
                <a:sym typeface="Calibri"/>
              </a:rPr>
              <a:t>Users upload files and share them through links that can expire or be revoked. Nothing uploaded should be able to harm the service or the people who open it.</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Roles: </a:t>
            </a:r>
            <a:r>
              <a:rPr lang="en-US" sz="3000">
                <a:solidFill>
                  <a:schemeClr val="dk1"/>
                </a:solidFill>
                <a:latin typeface="Calibri"/>
                <a:ea typeface="Calibri"/>
                <a:cs typeface="Calibri"/>
                <a:sym typeface="Calibri"/>
              </a:rPr>
              <a:t>Owner (logged in), recipient (depends on variant)</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Variants (pick one): </a:t>
            </a:r>
            <a:r>
              <a:rPr lang="en-US" sz="3000">
                <a:solidFill>
                  <a:schemeClr val="dk1"/>
                </a:solidFill>
                <a:latin typeface="Calibri"/>
                <a:ea typeface="Calibri"/>
                <a:cs typeface="Calibri"/>
                <a:sym typeface="Calibri"/>
              </a:rPr>
              <a:t>one-off transfer, classroom sharing, image or media hosting, secure document vault (harder, bonus marks)</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Must have: </a:t>
            </a:r>
            <a:r>
              <a:rPr lang="en-US" sz="3000">
                <a:solidFill>
                  <a:schemeClr val="dk1"/>
                </a:solidFill>
                <a:latin typeface="Calibri"/>
                <a:ea typeface="Calibri"/>
                <a:cs typeface="Calibri"/>
                <a:sym typeface="Calibri"/>
              </a:rPr>
              <a:t>upload with size limit and per-user quota, share link with expiry, download page, owner dashboard with download count, revoke and delete, clear messages for expired or revoked links</a:t>
            </a:r>
            <a:endParaRPr sz="30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0" y="-16450"/>
            <a:ext cx="20104100" cy="11309350"/>
          </a:xfrm>
          <a:prstGeom prst="rect">
            <a:avLst/>
          </a:prstGeom>
          <a:noFill/>
          <a:ln>
            <a:noFill/>
          </a:ln>
        </p:spPr>
      </p:pic>
      <p:sp>
        <p:nvSpPr>
          <p:cNvPr id="93" name="Google Shape;93;p8"/>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8"/>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8"/>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8"/>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2762250" y="1962150"/>
            <a:ext cx="16500000" cy="8445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PS2: Evaluation Criteria (10 × 5 marks)</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1308200" y="3050000"/>
            <a:ext cx="17487600" cy="5030100"/>
          </a:xfrm>
          <a:prstGeom prst="rect">
            <a:avLst/>
          </a:prstGeom>
          <a:noFill/>
          <a:ln>
            <a:noFill/>
          </a:ln>
        </p:spPr>
        <p:txBody>
          <a:bodyPr anchorCtr="0" anchor="t" bIns="0" lIns="0" spcFirstLastPara="1" rIns="0" wrap="square" tIns="12050">
            <a:spAutoFit/>
          </a:bodyPr>
          <a:lstStyle/>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Who are your users, what can they do, and what is out of scope?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are your file rules (types, size, quota, expiry, limits)?</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do your architecture and upload/download flow look like, and why?</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Where do files and metadata live, and do they survive a restart?</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How are share links made unguessable, and how is access enforced?</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the full upload, share and download flow work end to end?</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Can a malicious file hurt your service or your users?</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Are size, quota and expiry limits enforced by the server?</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Can someone access or abuse what isn't theirs?</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Is it deployed, and can someone else run, test and understand it?</a:t>
            </a:r>
            <a:endParaRPr sz="2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0" y="-16450"/>
            <a:ext cx="20104100" cy="11309350"/>
          </a:xfrm>
          <a:prstGeom prst="rect">
            <a:avLst/>
          </a:prstGeom>
          <a:noFill/>
          <a:ln>
            <a:noFill/>
          </a:ln>
        </p:spPr>
      </p:pic>
      <p:sp>
        <p:nvSpPr>
          <p:cNvPr id="93" name="Google Shape;93;p8"/>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8"/>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8"/>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8"/>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2762250" y="1962150"/>
            <a:ext cx="16500000" cy="8445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PS3: Live Auction Platform</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1308200" y="3270663"/>
            <a:ext cx="17487600" cy="5030100"/>
          </a:xfrm>
          <a:prstGeom prst="rect">
            <a:avLst/>
          </a:prstGeom>
          <a:noFill/>
          <a:ln>
            <a:noFill/>
          </a:ln>
        </p:spPr>
        <p:txBody>
          <a:bodyPr anchorCtr="0" anchor="t" bIns="0" lIns="0" spcFirstLastPara="1" rIns="0" wrap="square" tIns="12050">
            <a:spAutoFit/>
          </a:bodyPr>
          <a:lstStyle/>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Problem: </a:t>
            </a:r>
            <a:r>
              <a:rPr lang="en-US" sz="3000">
                <a:solidFill>
                  <a:schemeClr val="dk1"/>
                </a:solidFill>
                <a:latin typeface="Calibri"/>
                <a:ea typeface="Calibri"/>
                <a:cs typeface="Calibri"/>
                <a:sym typeface="Calibri"/>
              </a:rPr>
              <a:t>Timed auctions where bids are placed and seen in real time. Every viewer must see the same state, and the winner must be correct even when bids arrive together or at the last second.</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Roles: </a:t>
            </a:r>
            <a:r>
              <a:rPr lang="en-US" sz="3000">
                <a:solidFill>
                  <a:schemeClr val="dk1"/>
                </a:solidFill>
                <a:latin typeface="Calibri"/>
                <a:ea typeface="Calibri"/>
                <a:cs typeface="Calibri"/>
                <a:sym typeface="Calibri"/>
              </a:rPr>
              <a:t>Seller (or requester in a reverse auction), bidder; nobody bids on their own listing</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Variants (pick one): </a:t>
            </a:r>
            <a:r>
              <a:rPr lang="en-US" sz="3000">
                <a:solidFill>
                  <a:schemeClr val="dk1"/>
                </a:solidFill>
                <a:latin typeface="Calibri"/>
                <a:ea typeface="Calibri"/>
                <a:cs typeface="Calibri"/>
                <a:sym typeface="Calibri"/>
              </a:rPr>
              <a:t>English auction, sealed-bid, reverse auction, proxy bidding (harder, bonus marks)</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Must have: </a:t>
            </a:r>
            <a:r>
              <a:rPr lang="en-US" sz="3000">
                <a:solidFill>
                  <a:schemeClr val="dk1"/>
                </a:solidFill>
                <a:latin typeface="Calibri"/>
                <a:ea typeface="Calibri"/>
                <a:cs typeface="Calibri"/>
                <a:sym typeface="Calibri"/>
              </a:rPr>
              <a:t>listing with start price, increment and end time, countdown and bid history, live updates without refresh, winner and final price at close, bidder dashboard of active, won and lost</a:t>
            </a:r>
            <a:endParaRPr sz="3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0" y="-16450"/>
            <a:ext cx="20104100" cy="11309350"/>
          </a:xfrm>
          <a:prstGeom prst="rect">
            <a:avLst/>
          </a:prstGeom>
          <a:noFill/>
          <a:ln>
            <a:noFill/>
          </a:ln>
        </p:spPr>
      </p:pic>
      <p:sp>
        <p:nvSpPr>
          <p:cNvPr id="93" name="Google Shape;93;p8"/>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8"/>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8"/>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8"/>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2762250" y="1962150"/>
            <a:ext cx="16500000" cy="8445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PS3: Evaluation Criteria (10 × 5 marks)</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1308200" y="3050000"/>
            <a:ext cx="17487600" cy="5030100"/>
          </a:xfrm>
          <a:prstGeom prst="rect">
            <a:avLst/>
          </a:prstGeom>
          <a:noFill/>
          <a:ln>
            <a:noFill/>
          </a:ln>
        </p:spPr>
        <p:txBody>
          <a:bodyPr anchorCtr="0" anchor="t" bIns="0" lIns="0" spcFirstLastPara="1" rIns="0" wrap="square" tIns="12050">
            <a:spAutoFit/>
          </a:bodyPr>
          <a:lstStyle/>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Who are your users, what can they do, and what is out of scope?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are your auction rules (increment, ties, sniping, edits, visibility)?</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do your architecture and real-time design look like, and why?</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How is bid data stored, and who closes the auction?</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When two bids arrive together, does the right one always win?</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the full auction flow work end to end?</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real-time hold up when connections drop or clocks are wrong?</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Can anyone cheat, fake bids, or change a live auction?</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Are the results correct at and after close?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Is it deployed, and can someone else run, test and understand it?</a:t>
            </a:r>
            <a:endParaRPr sz="2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0" y="-16450"/>
            <a:ext cx="20104100" cy="11309350"/>
          </a:xfrm>
          <a:prstGeom prst="rect">
            <a:avLst/>
          </a:prstGeom>
          <a:noFill/>
          <a:ln>
            <a:noFill/>
          </a:ln>
        </p:spPr>
      </p:pic>
      <p:sp>
        <p:nvSpPr>
          <p:cNvPr id="93" name="Google Shape;93;p8"/>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8"/>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8"/>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8"/>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2762250" y="1962150"/>
            <a:ext cx="16500000" cy="8445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PS4: Online Coding Judge</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1308200" y="3270663"/>
            <a:ext cx="17487600" cy="5030100"/>
          </a:xfrm>
          <a:prstGeom prst="rect">
            <a:avLst/>
          </a:prstGeom>
          <a:noFill/>
          <a:ln>
            <a:noFill/>
          </a:ln>
        </p:spPr>
        <p:txBody>
          <a:bodyPr anchorCtr="0" anchor="t" bIns="0" lIns="0" spcFirstLastPara="1" rIns="0" wrap="square" tIns="12050">
            <a:spAutoFit/>
          </a:bodyPr>
          <a:lstStyle/>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Problem: </a:t>
            </a:r>
            <a:r>
              <a:rPr lang="en-US" sz="3000">
                <a:solidFill>
                  <a:schemeClr val="dk1"/>
                </a:solidFill>
                <a:latin typeface="Calibri"/>
                <a:ea typeface="Calibri"/>
                <a:cs typeface="Calibri"/>
                <a:sym typeface="Calibri"/>
              </a:rPr>
              <a:t>An admin publishes programming problems and users submit code that runs against hidden test cases and gets a verdict. User code is untrusted, so it must run isolated from the server within time and memory limits.</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Roles: </a:t>
            </a:r>
            <a:r>
              <a:rPr lang="en-US" sz="3000">
                <a:solidFill>
                  <a:schemeClr val="dk1"/>
                </a:solidFill>
                <a:latin typeface="Calibri"/>
                <a:ea typeface="Calibri"/>
                <a:cs typeface="Calibri"/>
                <a:sym typeface="Calibri"/>
              </a:rPr>
              <a:t>Admin (or faculty), participant</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Variants (pick one): </a:t>
            </a:r>
            <a:r>
              <a:rPr lang="en-US" sz="3000">
                <a:solidFill>
                  <a:schemeClr val="dk1"/>
                </a:solidFill>
                <a:latin typeface="Calibri"/>
                <a:ea typeface="Calibri"/>
                <a:cs typeface="Calibri"/>
                <a:sym typeface="Calibri"/>
              </a:rPr>
              <a:t>practice platform, lab auto-grader, timed contest (harder, bonus marks)</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Must have: </a:t>
            </a:r>
            <a:r>
              <a:rPr lang="en-US" sz="3000">
                <a:solidFill>
                  <a:schemeClr val="dk1"/>
                </a:solidFill>
                <a:latin typeface="Calibri"/>
                <a:ea typeface="Calibri"/>
                <a:cs typeface="Calibri"/>
                <a:sym typeface="Calibri"/>
              </a:rPr>
              <a:t>problems with samples, hidden tests and time limit, submissions in at least two languages, verdicts AC/WA/TLE/RE/CE, live submission status, submission history, leaderboard</a:t>
            </a:r>
            <a:endParaRPr sz="30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US" sz="3000" b="1">
                <a:solidFill>
                  <a:schemeClr val="dk1"/>
                </a:solidFill>
                <a:latin typeface="Calibri"/>
                <a:ea typeface="Calibri"/>
                <a:cs typeface="Calibri"/>
                <a:sym typeface="Calibri"/>
              </a:rPr>
              <a:t>Execution: </a:t>
            </a:r>
            <a:r>
              <a:rPr lang="en-US" sz="3000">
                <a:solidFill>
                  <a:schemeClr val="dk1"/>
                </a:solidFill>
                <a:latin typeface="Calibri"/>
                <a:ea typeface="Calibri"/>
                <a:cs typeface="Calibri"/>
                <a:sym typeface="Calibri"/>
              </a:rPr>
              <a:t>Judge0, Piston or your own Docker runner; the execution engine may run on a team laptop.</a:t>
            </a:r>
            <a:endParaRPr sz="30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8"/>
          <p:cNvSpPr txBox="1"/>
          <p:nvPr/>
        </p:nvSpPr>
        <p:spPr>
          <a:xfrm>
            <a:off x="-100" y="-25"/>
            <a:ext cx="20104200" cy="11309400"/>
          </a:xfrm>
          <a:prstGeom prst="rect">
            <a:avLst/>
          </a:prstGeom>
          <a:solidFill>
            <a:schemeClr val="lt1">
              <a:alpha val="97647"/>
            </a:schemeClr>
          </a:solid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3">
            <a:alphaModFix/>
          </a:blip>
          <a:srcRect b="0" l="0" r="0" t="0"/>
          <a:stretch/>
        </p:blipFill>
        <p:spPr>
          <a:xfrm>
            <a:off x="0" y="-16450"/>
            <a:ext cx="20104100" cy="11309350"/>
          </a:xfrm>
          <a:prstGeom prst="rect">
            <a:avLst/>
          </a:prstGeom>
          <a:noFill/>
          <a:ln>
            <a:noFill/>
          </a:ln>
        </p:spPr>
      </p:pic>
      <p:sp>
        <p:nvSpPr>
          <p:cNvPr id="93" name="Google Shape;93;p8"/>
          <p:cNvSpPr/>
          <p:nvPr/>
        </p:nvSpPr>
        <p:spPr>
          <a:xfrm>
            <a:off x="2982912" y="712787"/>
            <a:ext cx="57220" cy="57080"/>
          </a:xfrm>
          <a:custGeom>
            <a:rect b="b" l="l" r="r" t="t"/>
            <a:pathLst>
              <a:path extrusionOk="0" h="56515" w="56514">
                <a:moveTo>
                  <a:pt x="28145" y="0"/>
                </a:moveTo>
                <a:lnTo>
                  <a:pt x="17201" y="2207"/>
                </a:lnTo>
                <a:lnTo>
                  <a:pt x="8253" y="8227"/>
                </a:lnTo>
                <a:lnTo>
                  <a:pt x="2215" y="17157"/>
                </a:lnTo>
                <a:lnTo>
                  <a:pt x="0" y="28093"/>
                </a:lnTo>
                <a:lnTo>
                  <a:pt x="2215" y="39037"/>
                </a:lnTo>
                <a:lnTo>
                  <a:pt x="8253" y="47985"/>
                </a:lnTo>
                <a:lnTo>
                  <a:pt x="17201" y="54023"/>
                </a:lnTo>
                <a:lnTo>
                  <a:pt x="28145" y="56239"/>
                </a:lnTo>
                <a:lnTo>
                  <a:pt x="39070" y="54023"/>
                </a:lnTo>
                <a:lnTo>
                  <a:pt x="41803" y="52176"/>
                </a:lnTo>
                <a:lnTo>
                  <a:pt x="28145" y="52176"/>
                </a:lnTo>
                <a:lnTo>
                  <a:pt x="18763" y="50280"/>
                </a:lnTo>
                <a:lnTo>
                  <a:pt x="11109" y="45113"/>
                </a:lnTo>
                <a:lnTo>
                  <a:pt x="5952" y="37457"/>
                </a:lnTo>
                <a:lnTo>
                  <a:pt x="4062" y="28093"/>
                </a:lnTo>
                <a:lnTo>
                  <a:pt x="5952" y="18722"/>
                </a:lnTo>
                <a:lnTo>
                  <a:pt x="11109" y="11052"/>
                </a:lnTo>
                <a:lnTo>
                  <a:pt x="18763" y="5870"/>
                </a:lnTo>
                <a:lnTo>
                  <a:pt x="28145" y="3968"/>
                </a:lnTo>
                <a:lnTo>
                  <a:pt x="41684" y="3968"/>
                </a:lnTo>
                <a:lnTo>
                  <a:pt x="39070" y="2207"/>
                </a:lnTo>
                <a:lnTo>
                  <a:pt x="28145" y="0"/>
                </a:lnTo>
                <a:close/>
              </a:path>
              <a:path extrusionOk="0" h="56515" w="56514">
                <a:moveTo>
                  <a:pt x="41684" y="3968"/>
                </a:moveTo>
                <a:lnTo>
                  <a:pt x="28145" y="3968"/>
                </a:lnTo>
                <a:lnTo>
                  <a:pt x="37527" y="5870"/>
                </a:lnTo>
                <a:lnTo>
                  <a:pt x="45181" y="11052"/>
                </a:lnTo>
                <a:lnTo>
                  <a:pt x="50338" y="18722"/>
                </a:lnTo>
                <a:lnTo>
                  <a:pt x="52228" y="28093"/>
                </a:lnTo>
                <a:lnTo>
                  <a:pt x="50338" y="37457"/>
                </a:lnTo>
                <a:lnTo>
                  <a:pt x="45181" y="45113"/>
                </a:lnTo>
                <a:lnTo>
                  <a:pt x="37527" y="50280"/>
                </a:lnTo>
                <a:lnTo>
                  <a:pt x="28145" y="52176"/>
                </a:lnTo>
                <a:lnTo>
                  <a:pt x="41803" y="52176"/>
                </a:lnTo>
                <a:lnTo>
                  <a:pt x="48005" y="47985"/>
                </a:lnTo>
                <a:lnTo>
                  <a:pt x="54036" y="39037"/>
                </a:lnTo>
                <a:lnTo>
                  <a:pt x="56249" y="28093"/>
                </a:lnTo>
                <a:lnTo>
                  <a:pt x="54036" y="17157"/>
                </a:lnTo>
                <a:lnTo>
                  <a:pt x="48005" y="8227"/>
                </a:lnTo>
                <a:lnTo>
                  <a:pt x="41684" y="3968"/>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8"/>
          <p:cNvSpPr/>
          <p:nvPr/>
        </p:nvSpPr>
        <p:spPr>
          <a:xfrm>
            <a:off x="2998787" y="725487"/>
            <a:ext cx="25400" cy="31750"/>
          </a:xfrm>
          <a:custGeom>
            <a:rect b="b" l="l" r="r" t="t"/>
            <a:pathLst>
              <a:path extrusionOk="0" h="31750" w="25400">
                <a:moveTo>
                  <a:pt x="11999" y="0"/>
                </a:moveTo>
                <a:lnTo>
                  <a:pt x="0" y="0"/>
                </a:lnTo>
                <a:lnTo>
                  <a:pt x="0" y="31423"/>
                </a:lnTo>
                <a:lnTo>
                  <a:pt x="5675" y="31423"/>
                </a:lnTo>
                <a:lnTo>
                  <a:pt x="5675" y="18292"/>
                </a:lnTo>
                <a:lnTo>
                  <a:pt x="16472" y="18292"/>
                </a:lnTo>
                <a:lnTo>
                  <a:pt x="15633" y="17570"/>
                </a:lnTo>
                <a:lnTo>
                  <a:pt x="21266" y="14669"/>
                </a:lnTo>
                <a:lnTo>
                  <a:pt x="21701" y="13277"/>
                </a:lnTo>
                <a:lnTo>
                  <a:pt x="5675" y="13277"/>
                </a:lnTo>
                <a:lnTo>
                  <a:pt x="5675" y="5329"/>
                </a:lnTo>
                <a:lnTo>
                  <a:pt x="22239" y="5329"/>
                </a:lnTo>
                <a:lnTo>
                  <a:pt x="21884" y="3863"/>
                </a:lnTo>
                <a:lnTo>
                  <a:pt x="18564" y="848"/>
                </a:lnTo>
                <a:lnTo>
                  <a:pt x="11999" y="0"/>
                </a:lnTo>
                <a:close/>
              </a:path>
              <a:path extrusionOk="0" h="31750" w="25400">
                <a:moveTo>
                  <a:pt x="16472" y="18292"/>
                </a:moveTo>
                <a:lnTo>
                  <a:pt x="6837" y="18292"/>
                </a:lnTo>
                <a:lnTo>
                  <a:pt x="9727" y="18680"/>
                </a:lnTo>
                <a:lnTo>
                  <a:pt x="11465" y="19999"/>
                </a:lnTo>
                <a:lnTo>
                  <a:pt x="14470" y="24596"/>
                </a:lnTo>
                <a:lnTo>
                  <a:pt x="18564" y="31423"/>
                </a:lnTo>
                <a:lnTo>
                  <a:pt x="25402" y="31423"/>
                </a:lnTo>
                <a:lnTo>
                  <a:pt x="21967" y="25318"/>
                </a:lnTo>
                <a:lnTo>
                  <a:pt x="18721" y="20229"/>
                </a:lnTo>
                <a:lnTo>
                  <a:pt x="16472" y="18292"/>
                </a:lnTo>
                <a:close/>
              </a:path>
              <a:path extrusionOk="0" h="31750" w="25400">
                <a:moveTo>
                  <a:pt x="22239" y="5329"/>
                </a:moveTo>
                <a:lnTo>
                  <a:pt x="10156" y="5329"/>
                </a:lnTo>
                <a:lnTo>
                  <a:pt x="14324" y="5444"/>
                </a:lnTo>
                <a:lnTo>
                  <a:pt x="16449" y="6638"/>
                </a:lnTo>
                <a:lnTo>
                  <a:pt x="17224" y="9224"/>
                </a:lnTo>
                <a:lnTo>
                  <a:pt x="16638" y="11580"/>
                </a:lnTo>
                <a:lnTo>
                  <a:pt x="15057" y="12889"/>
                </a:lnTo>
                <a:lnTo>
                  <a:pt x="9926" y="13277"/>
                </a:lnTo>
                <a:lnTo>
                  <a:pt x="21701" y="13277"/>
                </a:lnTo>
                <a:lnTo>
                  <a:pt x="23088" y="8837"/>
                </a:lnTo>
                <a:lnTo>
                  <a:pt x="22239" y="5329"/>
                </a:lnTo>
                <a:close/>
              </a:path>
            </a:pathLst>
          </a:custGeom>
          <a:solidFill>
            <a:srgbClr val="231F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 name="Google Shape;95;p8"/>
          <p:cNvSpPr txBox="1"/>
          <p:nvPr/>
        </p:nvSpPr>
        <p:spPr>
          <a:xfrm>
            <a:off x="1004887" y="10517187"/>
            <a:ext cx="4624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8"/>
          <p:cNvSpPr txBox="1"/>
          <p:nvPr/>
        </p:nvSpPr>
        <p:spPr>
          <a:xfrm>
            <a:off x="6835775" y="10517187"/>
            <a:ext cx="64326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898989"/>
              </a:buClr>
              <a:buSzPts val="1800"/>
              <a:buFont typeface="Calibri"/>
              <a:buNone/>
            </a:pPr>
            <a:r>
              <a:rPr b="0" i="0" lang="en-US" sz="1800" u="none" cap="none" strike="noStrike">
                <a:solidFill>
                  <a:srgbClr val="898989"/>
                </a:solidFill>
                <a:latin typeface="Calibri"/>
                <a:ea typeface="Calibri"/>
                <a:cs typeface="Calibri"/>
                <a:sym typeface="Calibri"/>
              </a:rPr>
              <a:t>Department of CSE</a:t>
            </a:r>
            <a:endParaRPr b="0" i="0" sz="1400" u="none" cap="none" strike="noStrike">
              <a:solidFill>
                <a:srgbClr val="000000"/>
              </a:solidFill>
              <a:latin typeface="Arial"/>
              <a:ea typeface="Arial"/>
              <a:cs typeface="Arial"/>
              <a:sym typeface="Arial"/>
            </a:endParaRPr>
          </a:p>
        </p:txBody>
      </p:sp>
      <p:sp>
        <p:nvSpPr>
          <p:cNvPr id="97" name="Google Shape;97;p8"/>
          <p:cNvSpPr txBox="1"/>
          <p:nvPr/>
        </p:nvSpPr>
        <p:spPr>
          <a:xfrm>
            <a:off x="14474825" y="10517187"/>
            <a:ext cx="4624500" cy="2772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898989"/>
              </a:buClr>
              <a:buSzPts val="1800"/>
              <a:buFont typeface="Calibri"/>
              <a:buNone/>
            </a:pPr>
            <a:fld id="{00000000-1234-1234-1234-123412341234}" type="slidenum">
              <a:rPr b="0" i="0" lang="en-US" sz="1800" u="none" cap="none" strike="noStrike">
                <a:solidFill>
                  <a:srgbClr val="898989"/>
                </a:solidFill>
                <a:latin typeface="Calibri"/>
                <a:ea typeface="Calibri"/>
                <a:cs typeface="Calibri"/>
                <a:sym typeface="Calibri"/>
              </a:rPr>
              <a:t>‹#›</a:t>
            </a:fld>
            <a:endParaRPr b="0" i="0" sz="1400" u="none" cap="none" strike="noStrike">
              <a:solidFill>
                <a:srgbClr val="000000"/>
              </a:solidFill>
              <a:latin typeface="Arial"/>
              <a:ea typeface="Arial"/>
              <a:cs typeface="Arial"/>
              <a:sym typeface="Arial"/>
            </a:endParaRPr>
          </a:p>
        </p:txBody>
      </p:sp>
      <p:sp>
        <p:nvSpPr>
          <p:cNvPr id="98" name="Google Shape;98;p8"/>
          <p:cNvSpPr txBox="1"/>
          <p:nvPr/>
        </p:nvSpPr>
        <p:spPr>
          <a:xfrm>
            <a:off x="2762250" y="1962150"/>
            <a:ext cx="16500000" cy="84455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Clr>
                <a:schemeClr val="dk1"/>
              </a:buClr>
              <a:buSzPts val="5400"/>
              <a:buFont typeface="Calibri"/>
              <a:buNone/>
            </a:pPr>
            <a:r>
              <a:rPr b="1" i="0" lang="en-US" sz="5400" u="none" cap="none" strike="noStrike">
                <a:solidFill>
                  <a:schemeClr val="dk1"/>
                </a:solidFill>
                <a:latin typeface="Calibri"/>
                <a:ea typeface="Calibri"/>
                <a:cs typeface="Calibri"/>
                <a:sym typeface="Calibri"/>
              </a:rPr>
              <a:t>PS4: Evaluation Criteria (10 × 5 marks)</a:t>
            </a:r>
            <a:endParaRPr b="0" i="0" sz="1400" u="none" cap="none" strike="noStrike">
              <a:solidFill>
                <a:srgbClr val="000000"/>
              </a:solidFill>
              <a:latin typeface="Arial"/>
              <a:ea typeface="Arial"/>
              <a:cs typeface="Arial"/>
              <a:sym typeface="Arial"/>
            </a:endParaRPr>
          </a:p>
        </p:txBody>
      </p:sp>
      <p:sp>
        <p:nvSpPr>
          <p:cNvPr id="99" name="Google Shape;99;p8"/>
          <p:cNvSpPr txBox="1"/>
          <p:nvPr/>
        </p:nvSpPr>
        <p:spPr>
          <a:xfrm>
            <a:off x="1308200" y="3050000"/>
            <a:ext cx="17487600" cy="5030100"/>
          </a:xfrm>
          <a:prstGeom prst="rect">
            <a:avLst/>
          </a:prstGeom>
          <a:noFill/>
          <a:ln>
            <a:noFill/>
          </a:ln>
        </p:spPr>
        <p:txBody>
          <a:bodyPr anchorCtr="0" anchor="t" bIns="0" lIns="0" spcFirstLastPara="1" rIns="0" wrap="square" tIns="12050">
            <a:spAutoFit/>
          </a:bodyPr>
          <a:lstStyle/>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Who are your users, what can they do, and what is out of scope?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are your judging rules (limits, verdicts, comparison, ranking)?</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does your architecture look like, and how is user code isolated?</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your data model fit the judge?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What happens when 20 people submit at once?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the full flow work, from problem creation to leaderboard?</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Does every verdict (AC, WA, TLE, RE, CE) come out right?</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Is malicious code contained, and does the server survive?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Can anyone leak hidden tests or gain an unfair edge?</a:t>
            </a:r>
            <a:endParaRPr sz="2800">
              <a:solidFill>
                <a:schemeClr val="dk1"/>
              </a:solidFill>
              <a:latin typeface="Calibri"/>
              <a:ea typeface="Calibri"/>
              <a:cs typeface="Calibri"/>
              <a:sym typeface="Calibri"/>
            </a:endParaRPr>
          </a:p>
          <a:p>
            <a:pPr indent="-800100" lvl="0" marL="800100" rtl="0" algn="l">
              <a:lnSpc>
                <a:spcPct val="115000"/>
              </a:lnSpc>
              <a:spcBef>
                <a:spcPts val="1200"/>
              </a:spcBef>
              <a:spcAft>
                <a:spcPts val="0"/>
              </a:spcAft>
              <a:buClr>
                <a:schemeClr val="dk1"/>
              </a:buClr>
              <a:buSzPct val="100000"/>
              <a:buFont typeface="Calibri"/>
              <a:buAutoNum type="arabicPeriod"/>
            </a:pPr>
            <a:r>
              <a:rPr lang="en-US" sz="2800">
                <a:solidFill>
                  <a:schemeClr val="dk1"/>
                </a:solidFill>
                <a:latin typeface="Calibri"/>
                <a:ea typeface="Calibri"/>
                <a:cs typeface="Calibri"/>
                <a:sym typeface="Calibri"/>
              </a:rPr>
              <a:t>Is it deployed, and can someone else run, test and understand it?</a:t>
            </a:r>
            <a:endParaRPr sz="2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